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4.png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5.png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98800" y="118700"/>
            <a:ext cx="9799200" cy="1472400"/>
          </a:xfrm>
        </p:spPr>
        <p:txBody>
          <a:bodyPr/>
          <a:p>
            <a:r>
              <a:rPr lang="en-US" altLang="zh-CN" sz="4800" b="1"/>
              <a:t>AA </a:t>
            </a:r>
            <a:r>
              <a:rPr lang="ru-RU" altLang="en-US" sz="4800" b="1"/>
              <a:t>дерево</a:t>
            </a:r>
            <a:endParaRPr lang="ru-RU" altLang="en-US" sz="4800" b="1"/>
          </a:p>
        </p:txBody>
      </p:sp>
      <p:sp>
        <p:nvSpPr>
          <p:cNvPr id="5" name="文本框 4"/>
          <p:cNvSpPr txBox="1"/>
          <p:nvPr/>
        </p:nvSpPr>
        <p:spPr>
          <a:xfrm>
            <a:off x="731520" y="14928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Дерево </a:t>
            </a:r>
            <a:r>
              <a:rPr lang="en-US" altLang="zh-CN"/>
              <a:t>AA </a:t>
            </a:r>
            <a:r>
              <a:rPr lang="en-US" altLang="en-US"/>
              <a:t>было названо его изобретателем ални андерсоном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31520" y="285686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Дерево </a:t>
            </a:r>
            <a:r>
              <a:rPr lang="en-US" altLang="zh-CN"/>
              <a:t>AA </a:t>
            </a:r>
            <a:r>
              <a:rPr lang="en-US" altLang="en-US"/>
              <a:t>может рассматриваться как вариант красного и черного дерева, и самым большим преимуществом которого является уменьшение правил, которым необходимо следовать при построении дерева</a:t>
            </a:r>
            <a:endParaRPr lang="zh-CN" altLang="en-US"/>
          </a:p>
        </p:txBody>
      </p:sp>
      <p:pic>
        <p:nvPicPr>
          <p:cNvPr id="8" name="图片 7" descr="jimeng-2026-05-11-6929-在图片上添加俄语文字标签：在中间男人的头顶上方添加文字'программист'..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1246505"/>
            <a:ext cx="6815455" cy="50514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72790"/>
            <a:ext cx="10969200" cy="705600"/>
          </a:xfrm>
        </p:spPr>
        <p:txBody>
          <a:bodyPr/>
          <a:p>
            <a:pPr algn="ctr"/>
            <a:r>
              <a:rPr lang="en-US" altLang="en-US"/>
              <a:t>Принцип алгоритма</a:t>
            </a:r>
            <a:endParaRPr lang="en-US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2900" y="1146175"/>
            <a:ext cx="8375015" cy="69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Правила, которым должен следовать алгоритм, не сложны, всего лишь два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2900" y="1842770"/>
            <a:ext cx="83750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Во-первых, Один и тот же иерархический узел не может находиться на левой линии, и когда это происходит, нужно повернуть правый узел на родительском узле</a:t>
            </a:r>
            <a:endParaRPr lang="en-US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42900" y="3288030"/>
            <a:ext cx="8110220" cy="1167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Во-вторых, на правой линии не может быть трех узлов, связанных с рангом, и когда это произойдет, необходимо повернуть левый узел на дедушкином узле и поднять родительскую иерархию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864735"/>
            <a:ext cx="7020560" cy="8502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980" y="2200275"/>
            <a:ext cx="3140075" cy="35096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1505" y="233680"/>
            <a:ext cx="10968990" cy="941705"/>
          </a:xfrm>
        </p:spPr>
        <p:txBody>
          <a:bodyPr>
            <a:normAutofit fontScale="90000"/>
          </a:bodyPr>
          <a:p>
            <a:r>
              <a:rPr lang="en-US" altLang="en-US" sz="3110"/>
              <a:t>Ввод, удаление, поиск основных характеристик и сложность времени</a:t>
            </a:r>
            <a:endParaRPr lang="en-US" altLang="en-US" sz="3110"/>
          </a:p>
        </p:txBody>
      </p:sp>
      <p:sp>
        <p:nvSpPr>
          <p:cNvPr id="4" name="文本框 3"/>
          <p:cNvSpPr txBox="1"/>
          <p:nvPr/>
        </p:nvSpPr>
        <p:spPr>
          <a:xfrm>
            <a:off x="1595755" y="1358900"/>
            <a:ext cx="89935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Поиск в </a:t>
            </a:r>
            <a:r>
              <a:rPr lang="en-US" altLang="zh-CN"/>
              <a:t>AA-</a:t>
            </a:r>
            <a:r>
              <a:rPr lang="en-US" altLang="en-US"/>
              <a:t>дереве выполняется так же, как в обычном двоичном дереве поиска.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Вставка включает стандартную вставку в </a:t>
            </a:r>
            <a:r>
              <a:rPr lang="en-US" altLang="zh-CN"/>
              <a:t>BST, </a:t>
            </a:r>
            <a:r>
              <a:rPr lang="en-US" altLang="en-US"/>
              <a:t>затем </a:t>
            </a:r>
            <a:r>
              <a:rPr lang="en-US" altLang="zh-CN"/>
              <a:t>Skew (</a:t>
            </a:r>
            <a:r>
              <a:rPr lang="en-US" altLang="en-US"/>
              <a:t>устранение левой горизонтальной связи) и </a:t>
            </a:r>
            <a:r>
              <a:rPr lang="en-US" altLang="zh-CN"/>
              <a:t>Split (</a:t>
            </a:r>
            <a:r>
              <a:rPr lang="en-US" altLang="en-US"/>
              <a:t>устранение двух правых горизонтальных связей подряд).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Удаление требует стандартного удаления из </a:t>
            </a:r>
            <a:r>
              <a:rPr lang="en-US" altLang="zh-CN"/>
              <a:t>BST, </a:t>
            </a:r>
            <a:r>
              <a:rPr lang="en-US" altLang="en-US"/>
              <a:t>затем понижения уровня и повторного применения </a:t>
            </a:r>
            <a:r>
              <a:rPr lang="en-US" altLang="zh-CN"/>
              <a:t>Skew / Split. </a:t>
            </a:r>
            <a:r>
              <a:rPr lang="en-US" altLang="en-US"/>
              <a:t>Временная сложность всех операций — </a:t>
            </a:r>
            <a:r>
              <a:rPr lang="en-US" altLang="zh-CN"/>
              <a:t>O(log n).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596390" y="4126865"/>
            <a:ext cx="89928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Ввод, поиск, удаление, все три операции с временной сложностью </a:t>
            </a:r>
            <a:r>
              <a:rPr lang="en-US" altLang="zh-CN"/>
              <a:t>O(log n)</a:t>
            </a:r>
            <a:endParaRPr lang="en-US" altLang="zh-CN"/>
          </a:p>
          <a:p>
            <a:r>
              <a:rPr lang="en-US" altLang="en-US"/>
              <a:t>Потому что высота дерева определена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Сложность постройки дерева </a:t>
            </a:r>
            <a:r>
              <a:rPr lang="en-US" altLang="zh-CN"/>
              <a:t>AA </a:t>
            </a:r>
            <a:r>
              <a:rPr lang="en-US" altLang="en-US"/>
              <a:t>с нуля — </a:t>
            </a:r>
            <a:r>
              <a:rPr lang="en-US" altLang="zh-CN"/>
              <a:t>O(n log n).</a:t>
            </a:r>
            <a:endParaRPr lang="en-US" altLang="zh-CN"/>
          </a:p>
          <a:p>
            <a:r>
              <a:rPr lang="en-US" altLang="en-US"/>
              <a:t>При построении дерева имеется </a:t>
            </a:r>
            <a:r>
              <a:rPr lang="en-US" altLang="zh-CN"/>
              <a:t>n </a:t>
            </a:r>
            <a:r>
              <a:rPr lang="en-US" altLang="en-US"/>
              <a:t>элементов, что эквивалентно </a:t>
            </a:r>
            <a:r>
              <a:rPr lang="en-US" altLang="zh-CN"/>
              <a:t>n </a:t>
            </a:r>
            <a:r>
              <a:rPr lang="en-US" altLang="en-US"/>
              <a:t>подключению, так что просто умножить его на </a:t>
            </a:r>
            <a:r>
              <a:rPr lang="en-US" altLang="zh-CN"/>
              <a:t>n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172720"/>
            <a:ext cx="11435080" cy="705485"/>
          </a:xfrm>
        </p:spPr>
        <p:txBody>
          <a:bodyPr>
            <a:normAutofit fontScale="90000"/>
          </a:bodyPr>
          <a:p>
            <a:r>
              <a:rPr lang="en-US" altLang="en-US" sz="2665"/>
              <a:t>Сильные, слабые стороны дерева аа, применимые к сцене</a:t>
            </a:r>
            <a:endParaRPr lang="en-US" altLang="en-US" sz="2665"/>
          </a:p>
        </p:txBody>
      </p:sp>
      <p:sp>
        <p:nvSpPr>
          <p:cNvPr id="8" name="文本框 7"/>
          <p:cNvSpPr txBox="1"/>
          <p:nvPr/>
        </p:nvSpPr>
        <p:spPr>
          <a:xfrm>
            <a:off x="736600" y="1167130"/>
            <a:ext cx="5080000" cy="40703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ts val="1920"/>
              </a:lnSpc>
              <a:spcBef>
                <a:spcPts val="1900"/>
              </a:spcBef>
              <a:spcAft>
                <a:spcPts val="900"/>
              </a:spcAft>
            </a:pPr>
            <a:r>
              <a:rPr lang="en-US" altLang="zh-CN" sz="1300" b="1">
                <a:solidFill>
                  <a:srgbClr val="F9FAFB"/>
                </a:solidFill>
                <a:latin typeface="quote-cjk-patch"/>
                <a:ea typeface="quote-cjk-patch"/>
              </a:rPr>
              <a:t>Сравнение с другими деревьями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/>
        </p:nvGraphicFramePr>
        <p:xfrm>
          <a:off x="736600" y="996950"/>
          <a:ext cx="10485120" cy="354203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414020"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Параметр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AA-дерево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Красно-чёрное дерево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AVL-дерево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41402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Сложность реализации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низкая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высокая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средняя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402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Объём кода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~100 строк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~300 строк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~150 строк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402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Производительность поиска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средняя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средняя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высокая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389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Производительность вставки / удаления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средняя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высокая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средняя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402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Высота дерева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≤ 2·log₂(n)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≤ 2·log₂(n)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≤ 1.44·log₂(n)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402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Ценность для обучения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очень высокая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средняя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высокая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4020"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Применение в промышленности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очень редкое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очень частое (Java, C++, Linux)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122237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altLang="zh-CN" sz="16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редкое</a:t>
                      </a:r>
                      <a:endParaRPr lang="en-US" altLang="zh-CN" sz="16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2237" marR="0" marT="76517" marB="765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08330" y="5172710"/>
            <a:ext cx="106127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AA-</a:t>
            </a:r>
            <a:r>
              <a:rPr lang="en-US" altLang="en-US"/>
              <a:t>дерево: простота реализации, мало кода, </a:t>
            </a:r>
            <a:r>
              <a:rPr lang="en-US" altLang="zh-CN"/>
              <a:t>O(log n) </a:t>
            </a:r>
            <a:r>
              <a:rPr lang="en-US" altLang="en-US"/>
              <a:t>для всех операций. Идеально для обучения. В промышленности чаще используют красно-чёрное дерево, но </a:t>
            </a:r>
            <a:r>
              <a:rPr lang="en-US" altLang="zh-CN"/>
              <a:t>AA-</a:t>
            </a:r>
            <a:r>
              <a:rPr lang="en-US" altLang="en-US"/>
              <a:t>дерево — лучший способ понять принципы балансировки.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24555"/>
            <a:ext cx="10969200" cy="705600"/>
          </a:xfrm>
        </p:spPr>
        <p:txBody>
          <a:bodyPr/>
          <a:p>
            <a:r>
              <a:rPr lang="en-US" altLang="en-US"/>
              <a:t>Экспериментальные данные и результаты</a:t>
            </a:r>
            <a:endParaRPr lang="en-US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1518920"/>
            <a:ext cx="9304655" cy="46812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09950"/>
            <a:ext cx="10969200" cy="705600"/>
          </a:xfrm>
        </p:spPr>
        <p:txBody>
          <a:bodyPr>
            <a:noAutofit/>
          </a:bodyPr>
          <a:p>
            <a:pPr algn="ctr"/>
            <a:r>
              <a:rPr lang="ru-RU" altLang="en-US" sz="4800"/>
              <a:t>Спасибо за внимание</a:t>
            </a:r>
            <a:endParaRPr lang="ru-RU" altLang="en-US" sz="4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590" y="1889760"/>
            <a:ext cx="5799455" cy="4852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99640" y="1298575"/>
            <a:ext cx="77863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https://github.com/zhaojiyu418haha-maker/AA-tree</a:t>
            </a:r>
            <a:endParaRPr lang="en-US" altLang="zh-CN" sz="24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2181</Words>
  <Application>WPS 演示</Application>
  <PresentationFormat>宽屏</PresentationFormat>
  <Paragraphs>104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quote-cjk-patch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赵鲸鱼</cp:lastModifiedBy>
  <cp:revision>157</cp:revision>
  <dcterms:created xsi:type="dcterms:W3CDTF">2019-06-19T02:08:00Z</dcterms:created>
  <dcterms:modified xsi:type="dcterms:W3CDTF">2026-05-11T19:46:49Z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A213210B3BB94CD1B156088CF66CB0E0_11</vt:lpwstr>
  </property>
</Properties>
</file>